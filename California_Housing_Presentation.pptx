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Greet the class/teacher. State the project name and one-line goal: predicting California house prices using machine learning regression models. Keep this slide brief - 15-20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roadmap slide - just read the six section titles aloud so the audience knows what's coming. Don't over-explain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Explain: previous project (Adult Census Income) was CLASSIFICATION (predicting a category). This project is REGRESSION - predicting an exact number (house price). Mention the 3 stats briefly.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feature list briefly. Emphasize the last row (highlighted) is the TARGET variable we're trying to predict. Mention ocean_proximity is the only categorical column.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shows you understand real data quality issues, not just textbook cleaning. Price cap: explain the Census top-coded expensive homes at exactly $500,001. Missing bedrooms: explain median imputation reasoning.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these matter: a block with 5000 total rooms just has more houses, not necessarily nicer ones. Dividing by households gives per-house numbers that actually predict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to the map: bright yellow/green spots = expensive, matching SF Bay Area and coastal LA. Then explain median_income has the strongest correlation (0.64) with house value in the heatmap.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scaling in simple terms: without it, KNN and Linear models get confused by a column with values in the thousands vs a column with values 0-15. Tree models don't need scaling but we scale anyway for consistency where relevant.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Briefly name all 5. Emphasize: same train/test split, same features, same preprocessing pipeline for each - this is what makes the comparison fair.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bar chart first - Random Forest is tallest. Then walk the table: Random Forest has the lowest error (MAE $31,195) and highest R2 (0.782). Note Linear and Ridge are nearly identical - regularization barely mattered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each reason in plain language. If asked a follow-up 'what's a trade-off', mention: Random Forest is less interpretable than Linear Regression - harder to explain exactly why one house got its predicted price.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4 takeaways in your own words. End confidently: 'Thank you, happy to take questions.' Take a breath before opening the floor.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754880" cy="4754880"/>
          </a:xfrm>
          <a:prstGeom prst="ellipse">
            <a:avLst/>
          </a:prstGeom>
          <a:solidFill>
            <a:srgbClr val="A26769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840480" cy="3840480"/>
          </a:xfrm>
          <a:prstGeom prst="ellipse">
            <a:avLst/>
          </a:prstGeom>
          <a:solidFill>
            <a:srgbClr val="A26769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CALIFORNIA HOUSING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2004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Median House Value with Machine Learning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4480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Regression Project  •  1990 U.S. Census Data  •  5 Algorithms Compared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Maria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A1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3035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  <a:effectLst>
            <a:outerShdw sx="100000" sy="100000" kx="0" ky="0" algn="bl" rotWithShape="0" blurRad="76200" dist="25400" dir="5400000">
              <a:srgbClr val="3A1E28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760220"/>
            <a:ext cx="731520" cy="73152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602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783080" y="16002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783080" y="201168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predicting and why it matters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1417320"/>
            <a:ext cx="53035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  <a:effectLst>
            <a:outerShdw sx="100000" sy="100000" kx="0" ky="0" algn="bl" rotWithShape="0" blurRad="76200" dist="25400" dir="5400000">
              <a:srgbClr val="3A1E28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0" y="1760220"/>
            <a:ext cx="731520" cy="73152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7602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406640" y="16002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406640" y="201168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20,640 California census records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971800"/>
            <a:ext cx="53035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  <a:effectLst>
            <a:outerShdw sx="100000" sy="100000" kx="0" ky="0" algn="bl" rotWithShape="0" blurRad="76200" dist="25400" dir="5400000">
              <a:srgbClr val="3A1E28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3314700"/>
            <a:ext cx="731520" cy="73152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3147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783080" y="31546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the Data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783080" y="356616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issues we had to fix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63640" y="2971800"/>
            <a:ext cx="53035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  <a:effectLst>
            <a:outerShdw sx="100000" sy="100000" kx="0" ky="0" algn="bl" rotWithShape="0" blurRad="76200" dist="25400" dir="5400000">
              <a:srgbClr val="3A1E28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92240" y="3314700"/>
            <a:ext cx="731520" cy="73152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33147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406640" y="31546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406640" y="356616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the data more meaningful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4526280"/>
            <a:ext cx="53035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  <a:effectLst>
            <a:outerShdw sx="100000" sy="100000" kx="0" ky="0" algn="bl" rotWithShape="0" blurRad="76200" dist="25400" dir="5400000">
              <a:srgbClr val="3A1E28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68680" y="4869180"/>
            <a:ext cx="731520" cy="73152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48691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783080" y="47091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Models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783080" y="512064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and comparing algorithms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63640" y="4526280"/>
            <a:ext cx="53035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  <a:effectLst>
            <a:outerShdw sx="100000" sy="100000" kx="0" ky="0" algn="bl" rotWithShape="0" blurRad="76200" dist="25400" dir="5400000">
              <a:srgbClr val="3A1E28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92240" y="4869180"/>
            <a:ext cx="731520" cy="73152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30" name="Text 28"/>
          <p:cNvSpPr/>
          <p:nvPr/>
        </p:nvSpPr>
        <p:spPr>
          <a:xfrm>
            <a:off x="6492240" y="48691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406640" y="47091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Recommendation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406640" y="512064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model wins, and why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A1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5760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A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prices depend on dozens of interacting factors — location, income levels, housing density, and more.
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A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model that predicts the median house value of a California neighborhood from its census data — useful for buyers, sellers, and policy planners alike.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4572000"/>
            <a:ext cx="5760720" cy="1554480"/>
          </a:xfrm>
          <a:prstGeom prst="roundRect">
            <a:avLst>
              <a:gd name="adj" fmla="val 7059"/>
            </a:avLst>
          </a:prstGeom>
          <a:solidFill>
            <a:srgbClr val="6D2E4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47548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REGRESSION problem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512064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predict a continuous dollar amount — not a category.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0" y="155448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20,640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6903720" y="2331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A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 Records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0" y="278892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6903720" y="3566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A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Features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0" y="402336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6903720" y="4800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A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Compared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A1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1990 U.S. Census — California Housing Prices (Kaggle)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0020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longitude / latitude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892040" y="1600200"/>
            <a:ext cx="6492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location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258568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258568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housing_median_age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92040" y="2258568"/>
            <a:ext cx="6492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of homes in the block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916936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916936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total_rooms / total_bedrooms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2916936"/>
            <a:ext cx="6492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rooms &amp; bedrooms (block-level)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575304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575304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/ households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3575304"/>
            <a:ext cx="6492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and households in the block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233672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233672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median_income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92040" y="4233672"/>
            <a:ext cx="6492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household income ($10,000s)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892040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89204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ocean_proximity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92040" y="4892040"/>
            <a:ext cx="6492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Categorical: distance to ocean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5550408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6D2E46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5550408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median_house_value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92040" y="5550408"/>
            <a:ext cx="6492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— what we predict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A1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the Data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hidden issues had to be found and fixed before modeling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429768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  <a:effectLst>
            <a:outerShdw sx="100000" sy="100000" kx="0" ky="0" algn="bl" rotWithShape="0" blurRad="76200" dist="25400" dir="5400000">
              <a:srgbClr val="3A1E28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202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Cap Artifact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965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914400" y="338328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capped at exactly $500,001 — the true value of expensive homes was lost during Census collection.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4663440"/>
            <a:ext cx="4754880" cy="1143000"/>
          </a:xfrm>
          <a:prstGeom prst="roundRect">
            <a:avLst>
              <a:gd name="adj" fmla="val 8000"/>
            </a:avLst>
          </a:prstGeom>
          <a:solidFill>
            <a:srgbClr val="ECE2D0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4773168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A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dropped these rows — the true value can't be recovered, and keeping them would teach the model a false ceiling.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1691640"/>
            <a:ext cx="5257800" cy="429768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  <a:effectLst>
            <a:outerShdw sx="100000" sy="100000" kx="0" ky="0" algn="bl" rotWithShape="0" blurRad="76200" dist="25400" dir="5400000">
              <a:srgbClr val="3A1E28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37960" y="19202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37960" y="242316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207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6537960" y="338328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missing total_bedrooms (~1% of data) — a real NaN this time, not disguised.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37960" y="4663440"/>
            <a:ext cx="4754880" cy="1143000"/>
          </a:xfrm>
          <a:prstGeom prst="roundRect">
            <a:avLst>
              <a:gd name="adj" fmla="val 8000"/>
            </a:avLst>
          </a:prstGeom>
          <a:solidFill>
            <a:srgbClr val="ECE2D0"/>
          </a:solidFill>
          <a:ln/>
        </p:spPr>
      </p:sp>
      <p:sp>
        <p:nvSpPr>
          <p:cNvPr id="15" name="Text 13"/>
          <p:cNvSpPr/>
          <p:nvPr/>
        </p:nvSpPr>
        <p:spPr>
          <a:xfrm>
            <a:off x="6720840" y="4773168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A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filled with the median value — preserves the data since missingness looks random, not systematic.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A1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counts describe a whole neighborhood block — ratios describe an actual household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2900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  <a:effectLst>
            <a:outerShdw sx="100000" sy="100000" kx="0" ky="0" algn="bl" rotWithShape="0" blurRad="76200" dist="25400" dir="5400000">
              <a:srgbClr val="3A1E28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03120"/>
            <a:ext cx="2880360" cy="502920"/>
          </a:xfrm>
          <a:prstGeom prst="roundRect">
            <a:avLst>
              <a:gd name="adj" fmla="val 14545"/>
            </a:avLst>
          </a:prstGeom>
          <a:solidFill>
            <a:srgbClr val="ECE2D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0312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rooms_per_household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60120" y="288036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total_rooms ÷ households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3657600"/>
            <a:ext cx="27889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home size in the area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429000" cy="3931920"/>
          </a:xfrm>
          <a:prstGeom prst="roundRect">
            <a:avLst>
              <a:gd name="adj" fmla="val 4000"/>
            </a:avLst>
          </a:prstGeom>
          <a:solidFill>
            <a:srgbClr val="6D2E46"/>
          </a:solidFill>
          <a:ln w="12700">
            <a:solidFill>
              <a:srgbClr val="ECE2D0"/>
            </a:solidFill>
            <a:prstDash val="solid"/>
          </a:ln>
          <a:effectLst>
            <a:outerShdw sx="100000" sy="100000" kx="0" ky="0" algn="bl" rotWithShape="0" blurRad="76200" dist="25400" dir="5400000">
              <a:srgbClr val="3A1E28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2103120"/>
            <a:ext cx="2880360" cy="502920"/>
          </a:xfrm>
          <a:prstGeom prst="roundRect">
            <a:avLst>
              <a:gd name="adj" fmla="val 14545"/>
            </a:avLst>
          </a:prstGeom>
          <a:solidFill>
            <a:srgbClr val="FCF6F5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10312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bedrooms_per_room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663440" y="288036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total_bedrooms ÷ total_rooms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63440" y="3657600"/>
            <a:ext cx="27889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 “type” signal — apartments vs. houses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1828800"/>
            <a:ext cx="342900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  <a:effectLst>
            <a:outerShdw sx="100000" sy="100000" kx="0" ky="0" algn="bl" rotWithShape="0" blurRad="76200" dist="25400" dir="5400000">
              <a:srgbClr val="3A1E28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21040" y="2103120"/>
            <a:ext cx="2880360" cy="502920"/>
          </a:xfrm>
          <a:prstGeom prst="roundRect">
            <a:avLst>
              <a:gd name="adj" fmla="val 14545"/>
            </a:avLst>
          </a:prstGeom>
          <a:solidFill>
            <a:srgbClr val="ECE2D0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210312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population_per_household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366760" y="288036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÷ households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66760" y="3657600"/>
            <a:ext cx="27889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crowding indicator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1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Shows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577840" cy="5394960"/>
          </a:xfrm>
          <a:prstGeom prst="roundRect">
            <a:avLst>
              <a:gd name="adj" fmla="val 1695"/>
            </a:avLst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</p:sp>
      <p:pic>
        <p:nvPicPr>
          <p:cNvPr id="4" name="Image 0" descr="eda_2_ge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188720"/>
            <a:ext cx="5212080" cy="41696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544068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cluster along the coast — location matters a lot.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309360" y="1051560"/>
            <a:ext cx="5349240" cy="5394960"/>
          </a:xfrm>
          <a:prstGeom prst="roundRect">
            <a:avLst>
              <a:gd name="adj" fmla="val 1709"/>
            </a:avLst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</p:sp>
      <p:pic>
        <p:nvPicPr>
          <p:cNvPr id="7" name="Image 1" descr="eda_1_distribution_inco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417320"/>
            <a:ext cx="5074920" cy="195681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92240" y="352044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vs. price shows a strong upward relationship — our best single predictor.</a:t>
            </a:r>
            <a:endParaRPr lang="en-US" sz="1300" dirty="0"/>
          </a:p>
        </p:txBody>
      </p:sp>
      <p:pic>
        <p:nvPicPr>
          <p:cNvPr id="9" name="Image 2" descr="eda_4_cor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4434840"/>
            <a:ext cx="4892040" cy="1874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1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Preparing the Data for Modeling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691640"/>
            <a:ext cx="914400" cy="9144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916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965960" y="1691640"/>
            <a:ext cx="94183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  <a:effectLst>
            <a:outerShdw sx="100000" sy="100000" kx="0" ky="0" algn="bl" rotWithShape="0" blurRad="63500" dist="25400" dir="5400000">
              <a:srgbClr val="3A1E28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40280" y="1801368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categories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40280" y="219456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ocean_proximity → one-hot encoded (5 categories → 4 columns)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3108960"/>
            <a:ext cx="914400" cy="9144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1089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1965960" y="3108960"/>
            <a:ext cx="94183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  <a:effectLst>
            <a:outerShdw sx="100000" sy="100000" kx="0" ky="0" algn="bl" rotWithShape="0" blurRad="63500" dist="25400" dir="5400000">
              <a:srgbClr val="3A1E28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240280" y="3218688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numeric features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240280" y="361188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median_income (0–15) vs. total_rooms (1000s) — standardized for fair comparison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526280"/>
            <a:ext cx="914400" cy="9144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526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1965960" y="4526280"/>
            <a:ext cx="94183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  <a:effectLst>
            <a:outerShdw sx="100000" sy="100000" kx="0" ky="0" algn="bl" rotWithShape="0" blurRad="63500" dist="25400" dir="5400000">
              <a:srgbClr val="3A1E28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240280" y="4636008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240280" y="502920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 (15,740 rows) / 20% test (3,935 rows)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Algorithms, One Fair Test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trained and tested on the exact same data split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86588" y="2103120"/>
            <a:ext cx="2057400" cy="3291840"/>
          </a:xfrm>
          <a:prstGeom prst="roundRect">
            <a:avLst>
              <a:gd name="adj" fmla="val 5333"/>
            </a:avLst>
          </a:prstGeom>
          <a:solidFill>
            <a:srgbClr val="FCF6F5"/>
          </a:solidFill>
          <a:ln/>
        </p:spPr>
      </p:sp>
      <p:sp>
        <p:nvSpPr>
          <p:cNvPr id="5" name="Shape 3"/>
          <p:cNvSpPr/>
          <p:nvPr/>
        </p:nvSpPr>
        <p:spPr>
          <a:xfrm>
            <a:off x="1295248" y="2377440"/>
            <a:ext cx="640080" cy="640080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6" name="Text 4"/>
          <p:cNvSpPr/>
          <p:nvPr/>
        </p:nvSpPr>
        <p:spPr>
          <a:xfrm>
            <a:off x="1295248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23748" y="324612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23748" y="4114800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A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straight-line baseline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26868" y="2103120"/>
            <a:ext cx="2057400" cy="3291840"/>
          </a:xfrm>
          <a:prstGeom prst="roundRect">
            <a:avLst>
              <a:gd name="adj" fmla="val 5333"/>
            </a:avLst>
          </a:prstGeom>
          <a:solidFill>
            <a:srgbClr val="FCF6F5"/>
          </a:solidFill>
          <a:ln/>
        </p:spPr>
      </p:sp>
      <p:sp>
        <p:nvSpPr>
          <p:cNvPr id="10" name="Shape 8"/>
          <p:cNvSpPr/>
          <p:nvPr/>
        </p:nvSpPr>
        <p:spPr>
          <a:xfrm>
            <a:off x="3535528" y="2377440"/>
            <a:ext cx="640080" cy="640080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11" name="Text 9"/>
          <p:cNvSpPr/>
          <p:nvPr/>
        </p:nvSpPr>
        <p:spPr>
          <a:xfrm>
            <a:off x="3535528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964028" y="324612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Regression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64028" y="4114800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A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+ regularization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67148" y="2103120"/>
            <a:ext cx="2057400" cy="3291840"/>
          </a:xfrm>
          <a:prstGeom prst="roundRect">
            <a:avLst>
              <a:gd name="adj" fmla="val 5333"/>
            </a:avLst>
          </a:prstGeom>
          <a:solidFill>
            <a:srgbClr val="FCF6F5"/>
          </a:solidFill>
          <a:ln/>
        </p:spPr>
      </p:sp>
      <p:sp>
        <p:nvSpPr>
          <p:cNvPr id="15" name="Shape 13"/>
          <p:cNvSpPr/>
          <p:nvPr/>
        </p:nvSpPr>
        <p:spPr>
          <a:xfrm>
            <a:off x="5775808" y="2377440"/>
            <a:ext cx="640080" cy="640080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16" name="Text 14"/>
          <p:cNvSpPr/>
          <p:nvPr/>
        </p:nvSpPr>
        <p:spPr>
          <a:xfrm>
            <a:off x="5775808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204308" y="324612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04308" y="4114800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A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non-linear splits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07428" y="2103120"/>
            <a:ext cx="2057400" cy="3291840"/>
          </a:xfrm>
          <a:prstGeom prst="roundRect">
            <a:avLst>
              <a:gd name="adj" fmla="val 5333"/>
            </a:avLst>
          </a:prstGeom>
          <a:solidFill>
            <a:srgbClr val="FCF6F5"/>
          </a:solidFill>
          <a:ln/>
        </p:spPr>
      </p:sp>
      <p:sp>
        <p:nvSpPr>
          <p:cNvPr id="20" name="Shape 18"/>
          <p:cNvSpPr/>
          <p:nvPr/>
        </p:nvSpPr>
        <p:spPr>
          <a:xfrm>
            <a:off x="8016088" y="2377440"/>
            <a:ext cx="640080" cy="640080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21" name="Text 19"/>
          <p:cNvSpPr/>
          <p:nvPr/>
        </p:nvSpPr>
        <p:spPr>
          <a:xfrm>
            <a:off x="8016088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444588" y="324612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44588" y="4114800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A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trees, averaged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547708" y="2103120"/>
            <a:ext cx="2057400" cy="3291840"/>
          </a:xfrm>
          <a:prstGeom prst="roundRect">
            <a:avLst>
              <a:gd name="adj" fmla="val 5333"/>
            </a:avLst>
          </a:prstGeom>
          <a:solidFill>
            <a:srgbClr val="FCF6F5"/>
          </a:solidFill>
          <a:ln/>
        </p:spPr>
      </p:sp>
      <p:sp>
        <p:nvSpPr>
          <p:cNvPr id="25" name="Shape 23"/>
          <p:cNvSpPr/>
          <p:nvPr/>
        </p:nvSpPr>
        <p:spPr>
          <a:xfrm>
            <a:off x="10256368" y="2377440"/>
            <a:ext cx="640080" cy="640080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26" name="Text 24"/>
          <p:cNvSpPr/>
          <p:nvPr/>
        </p:nvSpPr>
        <p:spPr>
          <a:xfrm>
            <a:off x="10256368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684868" y="324612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Regressor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84868" y="4114800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A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Averages nearest neighbors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1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R² Score by Model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measures how much of the price variation the model explains (1.0 = perfect)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675120" cy="4892040"/>
          </a:xfrm>
          <a:prstGeom prst="roundRect">
            <a:avLst>
              <a:gd name="adj" fmla="val 1869"/>
            </a:avLst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</p:sp>
      <p:pic>
        <p:nvPicPr>
          <p:cNvPr id="5" name="Image 0" descr="housing_model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37360"/>
            <a:ext cx="6217920" cy="37307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52360" y="1737360"/>
            <a:ext cx="4160520" cy="658368"/>
          </a:xfrm>
          <a:prstGeom prst="roundRect">
            <a:avLst>
              <a:gd name="adj" fmla="val 6944"/>
            </a:avLst>
          </a:prstGeom>
          <a:solidFill>
            <a:srgbClr val="6D2E46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89520" y="1737360"/>
            <a:ext cx="1691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281160" y="1737360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0104120" y="1737360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0927080" y="1737360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452360" y="2468880"/>
            <a:ext cx="4160520" cy="658368"/>
          </a:xfrm>
          <a:prstGeom prst="roundRect">
            <a:avLst>
              <a:gd name="adj" fmla="val 6944"/>
            </a:avLst>
          </a:prstGeom>
          <a:solidFill>
            <a:srgbClr val="ECE2D0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589520" y="2468880"/>
            <a:ext cx="1691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281160" y="2468880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A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$31,195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0104120" y="2468880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A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$46,614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0927080" y="2468880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0.782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452360" y="3200400"/>
            <a:ext cx="416052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589520" y="3200400"/>
            <a:ext cx="1691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Regressor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9281160" y="3200400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A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$38,496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0104120" y="3200400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A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$55,516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10927080" y="3200400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0.691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452360" y="3931920"/>
            <a:ext cx="416052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589520" y="3931920"/>
            <a:ext cx="1691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281160" y="3931920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A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$38,335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10104120" y="3931920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A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$57,010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10927080" y="3931920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0.674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7452360" y="4663440"/>
            <a:ext cx="416052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589520" y="4663440"/>
            <a:ext cx="1691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Regression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9281160" y="4663440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A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$45,481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10104120" y="4663440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A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$62,204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10927080" y="4663440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0.612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7452360" y="5394960"/>
            <a:ext cx="416052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589520" y="5394960"/>
            <a:ext cx="1691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9281160" y="5394960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A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$45,481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10104120" y="5394960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A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$62,206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10927080" y="5394960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0.612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1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Random Forest Wins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120640" cy="5257800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</p:sp>
      <p:pic>
        <p:nvPicPr>
          <p:cNvPr id="4" name="Image 0" descr="housing_actual_vs_predic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325880"/>
            <a:ext cx="4663440" cy="4663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60350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vs. Predicted — points near the line are accurate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852160" y="1234440"/>
            <a:ext cx="5760720" cy="1417320"/>
          </a:xfrm>
          <a:prstGeom prst="roundRect">
            <a:avLst>
              <a:gd name="adj" fmla="val 7742"/>
            </a:avLst>
          </a:prstGeom>
          <a:solidFill>
            <a:srgbClr val="6D2E46"/>
          </a:solidFill>
          <a:ln/>
        </p:spPr>
      </p:sp>
      <p:sp>
        <p:nvSpPr>
          <p:cNvPr id="7" name="Text 4"/>
          <p:cNvSpPr/>
          <p:nvPr/>
        </p:nvSpPr>
        <p:spPr>
          <a:xfrm>
            <a:off x="6080760" y="1371600"/>
            <a:ext cx="5349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non-linear patterns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080760" y="1783080"/>
            <a:ext cx="5349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Income's effect on price differs by location — straight-line models can't represent that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852160" y="2834640"/>
            <a:ext cx="5760720" cy="1417320"/>
          </a:xfrm>
          <a:prstGeom prst="roundRect">
            <a:avLst>
              <a:gd name="adj" fmla="val 7742"/>
            </a:avLst>
          </a:prstGeom>
          <a:solidFill>
            <a:srgbClr val="6D2E46"/>
          </a:solidFill>
          <a:ln/>
        </p:spPr>
      </p:sp>
      <p:sp>
        <p:nvSpPr>
          <p:cNvPr id="10" name="Text 7"/>
          <p:cNvSpPr/>
          <p:nvPr/>
        </p:nvSpPr>
        <p:spPr>
          <a:xfrm>
            <a:off x="6080760" y="2971800"/>
            <a:ext cx="5349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reduces overfitting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080760" y="3383280"/>
            <a:ext cx="5349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trees averaged smooth out noise a single Decision Tree overfits to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852160" y="4434840"/>
            <a:ext cx="5760720" cy="1417320"/>
          </a:xfrm>
          <a:prstGeom prst="roundRect">
            <a:avLst>
              <a:gd name="adj" fmla="val 7742"/>
            </a:avLst>
          </a:prstGeom>
          <a:solidFill>
            <a:srgbClr val="6D2E46"/>
          </a:solidFill>
          <a:ln/>
        </p:spPr>
      </p:sp>
      <p:sp>
        <p:nvSpPr>
          <p:cNvPr id="13" name="Text 10"/>
          <p:cNvSpPr/>
          <p:nvPr/>
        </p:nvSpPr>
        <p:spPr>
          <a:xfrm>
            <a:off x="6080760" y="4572000"/>
            <a:ext cx="5349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mixed feature scales natively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080760" y="4983480"/>
            <a:ext cx="5349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sensitivity to total_rooms (1000s) vs. bedrooms_per_room (0–1)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572000" cy="4572000"/>
          </a:xfrm>
          <a:prstGeom prst="ellipse">
            <a:avLst/>
          </a:prstGeom>
          <a:solidFill>
            <a:srgbClr val="A26769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389120"/>
            <a:ext cx="4114800" cy="4114800"/>
          </a:xfrm>
          <a:prstGeom prst="ellipse">
            <a:avLst/>
          </a:prstGeom>
          <a:solidFill>
            <a:srgbClr val="A26769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400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256032" cy="256032"/>
          </a:xfrm>
          <a:prstGeom prst="ellipse">
            <a:avLst/>
          </a:prstGeom>
          <a:solidFill>
            <a:srgbClr val="ECE2D0"/>
          </a:solidFill>
          <a:ln/>
        </p:spPr>
      </p:sp>
      <p:sp>
        <p:nvSpPr>
          <p:cNvPr id="6" name="Text 4"/>
          <p:cNvSpPr/>
          <p:nvPr/>
        </p:nvSpPr>
        <p:spPr>
          <a:xfrm>
            <a:off x="1325880" y="1618488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was the best model: R² = 0.782, average error ≈ $31,000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822960" y="2606040"/>
            <a:ext cx="256032" cy="256032"/>
          </a:xfrm>
          <a:prstGeom prst="ellipse">
            <a:avLst/>
          </a:prstGeom>
          <a:solidFill>
            <a:srgbClr val="ECE2D0"/>
          </a:solidFill>
          <a:ln/>
        </p:spPr>
      </p:sp>
      <p:sp>
        <p:nvSpPr>
          <p:cNvPr id="8" name="Text 6"/>
          <p:cNvSpPr/>
          <p:nvPr/>
        </p:nvSpPr>
        <p:spPr>
          <a:xfrm>
            <a:off x="1325880" y="2487168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income and location are the strongest price predictors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22960" y="3474720"/>
            <a:ext cx="256032" cy="256032"/>
          </a:xfrm>
          <a:prstGeom prst="ellipse">
            <a:avLst/>
          </a:prstGeom>
          <a:solidFill>
            <a:srgbClr val="ECE2D0"/>
          </a:solidFill>
          <a:ln/>
        </p:spPr>
      </p:sp>
      <p:sp>
        <p:nvSpPr>
          <p:cNvPr id="10" name="Text 8"/>
          <p:cNvSpPr/>
          <p:nvPr/>
        </p:nvSpPr>
        <p:spPr>
          <a:xfrm>
            <a:off x="1325880" y="3355848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 cleaning (price cap, missing values) and feature engineering mattered as much as model choice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22960" y="4343400"/>
            <a:ext cx="256032" cy="256032"/>
          </a:xfrm>
          <a:prstGeom prst="ellipse">
            <a:avLst/>
          </a:prstGeom>
          <a:solidFill>
            <a:srgbClr val="ECE2D0"/>
          </a:solidFill>
          <a:ln/>
        </p:spPr>
      </p:sp>
      <p:sp>
        <p:nvSpPr>
          <p:cNvPr id="12" name="Text 10"/>
          <p:cNvSpPr/>
          <p:nvPr/>
        </p:nvSpPr>
        <p:spPr>
          <a:xfrm>
            <a:off x="1325880" y="4224528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≠ classification: different metrics (MAE/RMSE/R²), same rigorous comparison process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22960" y="56235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C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22960" y="6172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2026-08-14T05:22:07Z</dcterms:created>
  <dcterms:modified xsi:type="dcterms:W3CDTF">2026-08-14T05:22:07Z</dcterms:modified>
</cp:coreProperties>
</file>